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57" r:id="rId4"/>
    <p:sldId id="258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71" r:id="rId13"/>
    <p:sldId id="265" r:id="rId14"/>
    <p:sldId id="266" r:id="rId15"/>
    <p:sldId id="268" r:id="rId16"/>
    <p:sldId id="270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1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6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08A1-D151-AAFD-6337-14E774634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1B3BE-DB87-1D65-6EEB-3BDFB3B1C3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8926F-38CD-B7E4-70C5-4098AAE40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3E5B-E02B-4E04-9084-803B90805DCF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3498-0556-C1F0-B02F-98E50D5EA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18BDD-F36F-3D8C-7AA8-118190565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386D2-2CD7-40A6-8E0A-81A7847CB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86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15879-2293-A5B2-E924-049FB0AD9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C0725-95D3-3BBB-206F-5CC2542C0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90281-0ABA-765A-5865-9C7CB0968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3E5B-E02B-4E04-9084-803B90805DCF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FF37B-81D3-AE34-A39A-33C3A9BCD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00EB6-2F6B-0E51-FC39-DD39C7477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386D2-2CD7-40A6-8E0A-81A7847CB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89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298F2-F5FD-DCBD-C83C-28093B856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049C6-B816-D84B-EECD-750D4E13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7E92F-E54C-6BC1-4F57-4022979E4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3E5B-E02B-4E04-9084-803B90805DCF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3A4F6-3E1F-563D-6D53-BB21C4D49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6D96A-A02E-8D7E-50D9-0F443439F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386D2-2CD7-40A6-8E0A-81A7847CB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761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3D52B-7F57-2D91-2C39-4C8DEC65C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D5F09-5130-A62F-24C8-D16D1A2BD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2961C-BCA5-38A4-767B-7C4A56E80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6E7A0-422A-3E42-BF48-C91F61F8A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3E5B-E02B-4E04-9084-803B90805DCF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AB359-E744-2D19-7503-0F4F39F9B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59BC6-45A6-ED2A-AF56-F44A6828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386D2-2CD7-40A6-8E0A-81A7847CB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662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1B5A7-A6B6-457F-6C5C-4E8A2D469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E1BD3-49CA-6B57-CB96-D9A9AAC1A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97BCF-A570-2DC8-C3CD-5D0A6744C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64C15E-00BF-EB1E-8335-F6D1827AA5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74071F-851A-CA41-A555-F13FDEA155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E7D110-ECD8-DB5C-57D6-19A0F785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3E5B-E02B-4E04-9084-803B90805DCF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F438AE-59C0-DEC1-9E8F-DF435E42C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2116C4-A2CC-2BC5-ECA9-E21C16B76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386D2-2CD7-40A6-8E0A-81A7847CB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720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D7B12-13DD-E997-5AFF-A0C31EEBA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7B2349-EC03-01C1-0228-852B36C75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3E5B-E02B-4E04-9084-803B90805DCF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91E7B-0AF2-DC22-B3ED-6A1D23754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DA97E4-E013-870F-EDFA-8A0B3F817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386D2-2CD7-40A6-8E0A-81A7847CB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63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A3BCD8-9C19-A533-6B70-F9F6F16C4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3E5B-E02B-4E04-9084-803B90805DCF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6C3180-D68B-ED2A-BDD5-152D1C2E1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DFC21-07FC-9938-C569-0727938A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386D2-2CD7-40A6-8E0A-81A7847CB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338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E1B24-2CF6-99BF-45AD-08DFDBE3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EA958-23DF-A692-D16F-160946F73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CD13B-4B62-DB92-FE35-2CA8344F4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22519-1851-45EC-11D8-D0BE541D4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3E5B-E02B-4E04-9084-803B90805DCF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B5924-C76A-F1CE-B4A2-ED53F7124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10F69-BEF6-F02C-CDF2-18263D34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386D2-2CD7-40A6-8E0A-81A7847CB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812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17B6-D5D9-E8A1-29A8-E920EABD6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DFD3E1-5CDA-A290-B53A-6195E6CC86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73A05-8ABF-DEE6-0B24-1377E40AC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2A5E5-5759-51F3-2996-4783A2A62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3E5B-E02B-4E04-9084-803B90805DCF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545CF-7A7F-5929-E8D1-84C36EE9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4546-56CD-4C3E-0E29-462DE065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386D2-2CD7-40A6-8E0A-81A7847CB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294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91DA2-5B16-8865-7B32-A6D7C727A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500C2-70B7-5B4E-DE40-72748EAFF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B2688-FEBA-8750-64CB-D201DDE8F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3E5B-E02B-4E04-9084-803B90805DCF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919D7-D848-1FF3-4CB1-6060BF181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3551C-6B26-CD99-F7C0-331AE60F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386D2-2CD7-40A6-8E0A-81A7847CB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869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1286A2-143E-7A5B-9C25-7350CB8A4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056CD9-CAFF-B9A0-81C5-37B49127A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7F76B-F4D1-D9A2-50BF-3DAF28840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03E5B-E02B-4E04-9084-803B90805DCF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89C03-F3F9-D9CB-1517-06585196F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A878C-6219-61E8-3034-492D87BE2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386D2-2CD7-40A6-8E0A-81A7847CB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960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AD6CD9-B904-4254-4541-B120188AA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8247A-1D6A-9034-4BAC-C70F4156C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52D4F-E35D-C521-5ECA-2AC61270C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03E5B-E02B-4E04-9084-803B90805DCF}" type="datetimeFigureOut">
              <a:rPr lang="en-IN" smtClean="0"/>
              <a:t>02/02/26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6CEC6-7126-452C-0BBC-371BBC1EFE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7739C-1068-17BF-8957-DBE6A0696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386D2-2CD7-40A6-8E0A-81A7847CB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056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32A221DD-D1B6-2162-4FA5-81B83B5FD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038" y="1253331"/>
            <a:ext cx="89679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32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29B6A-A0F2-802A-86F9-C5CFE54E6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6000" i="0" kern="1200" spc="-50" baseline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Algorithmic Trading Framework Using </a:t>
            </a:r>
            <a:r>
              <a:rPr lang="en-US" sz="6000" i="0" kern="1200" spc="-50" baseline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Backtrader</a:t>
            </a:r>
            <a:r>
              <a:rPr lang="en-US" sz="6000" i="0" kern="1200" spc="-50" baseline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6000" i="0" kern="1200" spc="-50" baseline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24735-6511-2D17-38B8-1C95AF235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99902"/>
            <a:ext cx="9144000" cy="1655762"/>
          </a:xfrm>
        </p:spPr>
        <p:txBody>
          <a:bodyPr/>
          <a:lstStyle/>
          <a:p>
            <a:pPr algn="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Rahul RG – 22BCE2280</a:t>
            </a:r>
          </a:p>
          <a:p>
            <a:pPr algn="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Dharsha Dwarak – 22BDS0347</a:t>
            </a:r>
          </a:p>
          <a:p>
            <a:pPr algn="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Ayush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Agarwal – 22BDS0337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1.jpeg">
            <a:extLst>
              <a:ext uri="{FF2B5EF4-FFF2-40B4-BE49-F238E27FC236}">
                <a16:creationId xmlns:a16="http://schemas.microsoft.com/office/drawing/2014/main" id="{1C67DACD-8083-7404-070B-976BECB6511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20497" y="233903"/>
            <a:ext cx="5551006" cy="154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81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46CDA-D001-801A-2832-B58428193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AF362-5710-465E-AEB4-D4F2C67BD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Financial markets generate massive volumes of price data every second</a:t>
            </a:r>
          </a:p>
          <a:p>
            <a:r>
              <a:rPr lang="en-US" dirty="0"/>
              <a:t>Human trading decisions are often influenced by emotion, bias, and reaction delay</a:t>
            </a:r>
          </a:p>
          <a:p>
            <a:r>
              <a:rPr lang="en-US" dirty="0"/>
              <a:t>Quantitative trading uses rule-based, data-driven models to remove these factors</a:t>
            </a:r>
          </a:p>
          <a:p>
            <a:r>
              <a:rPr lang="en-US" dirty="0"/>
              <a:t>Decisions are derived from historical price behavior and statistical relationships</a:t>
            </a:r>
          </a:p>
          <a:p>
            <a:r>
              <a:rPr lang="en-US" dirty="0"/>
              <a:t>Strategy performance is measured </a:t>
            </a:r>
            <a:r>
              <a:rPr lang="en-US" b="1" dirty="0"/>
              <a:t>relative to gold</a:t>
            </a:r>
            <a:r>
              <a:rPr lang="en-US" dirty="0"/>
              <a:t>, not USD</a:t>
            </a:r>
          </a:p>
          <a:p>
            <a:r>
              <a:rPr lang="en-US" dirty="0"/>
              <a:t>Gold is treated as the base asset to reflect real value creation beyond inflation</a:t>
            </a:r>
          </a:p>
        </p:txBody>
      </p:sp>
    </p:spTree>
    <p:extLst>
      <p:ext uri="{BB962C8B-B14F-4D97-AF65-F5344CB8AC3E}">
        <p14:creationId xmlns:p14="http://schemas.microsoft.com/office/powerpoint/2010/main" val="3357053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2917C-B4AB-98A0-64E5-14DC98DE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CAE3A-A956-6CF3-B560-9C87D1918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Although quantitative trading is systematic, designing an effective trading system is non-trivial</a:t>
            </a:r>
          </a:p>
          <a:p>
            <a:r>
              <a:rPr lang="en-US" dirty="0"/>
              <a:t>Key challenges include:</a:t>
            </a:r>
          </a:p>
          <a:p>
            <a:pPr lvl="1"/>
            <a:r>
              <a:rPr lang="en-US" dirty="0"/>
              <a:t>Translating raw historical price data into reliable trading signals</a:t>
            </a:r>
          </a:p>
          <a:p>
            <a:pPr lvl="1"/>
            <a:r>
              <a:rPr lang="en-US" dirty="0"/>
              <a:t>Verifying true profitability before live deployment</a:t>
            </a:r>
          </a:p>
          <a:p>
            <a:r>
              <a:rPr lang="en-US" dirty="0"/>
              <a:t>Many existing approaches lack rigorous historical validation</a:t>
            </a:r>
          </a:p>
          <a:p>
            <a:r>
              <a:rPr lang="en-US" dirty="0"/>
              <a:t>There is a need for a structured quantitative trading framework</a:t>
            </a:r>
          </a:p>
          <a:p>
            <a:r>
              <a:rPr lang="en-US" dirty="0"/>
              <a:t>The framework must be objectively tested using </a:t>
            </a:r>
            <a:r>
              <a:rPr lang="en-US" b="1" dirty="0"/>
              <a:t>out-of-sample historical data</a:t>
            </a:r>
            <a:r>
              <a:rPr lang="en-US" dirty="0"/>
              <a:t> before live trading</a:t>
            </a:r>
          </a:p>
        </p:txBody>
      </p:sp>
    </p:spTree>
    <p:extLst>
      <p:ext uri="{BB962C8B-B14F-4D97-AF65-F5344CB8AC3E}">
        <p14:creationId xmlns:p14="http://schemas.microsoft.com/office/powerpoint/2010/main" val="3016516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374EA-999F-8CFF-45C7-1088B6831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E30E3-BB2C-C9A5-A268-A74E5136B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Many studies do not provide complete end-to-end trading frameworks</a:t>
            </a:r>
          </a:p>
          <a:p>
            <a:r>
              <a:rPr lang="en-US" dirty="0"/>
              <a:t>Historical </a:t>
            </a:r>
            <a:r>
              <a:rPr lang="en-US" dirty="0" err="1"/>
              <a:t>backtesting</a:t>
            </a:r>
            <a:r>
              <a:rPr lang="en-US" dirty="0"/>
              <a:t> is often insufficient or missing</a:t>
            </a:r>
          </a:p>
          <a:p>
            <a:r>
              <a:rPr lang="en-US" dirty="0"/>
              <a:t>Out-of-sample testing is frequently ignored</a:t>
            </a:r>
          </a:p>
          <a:p>
            <a:r>
              <a:rPr lang="en-US" dirty="0"/>
              <a:t>Fair comparison of models under identical conditions is lacking</a:t>
            </a:r>
          </a:p>
          <a:p>
            <a:r>
              <a:rPr lang="en-US" dirty="0"/>
              <a:t>Risk-adjusted performance metrics are commonly ignored</a:t>
            </a:r>
          </a:p>
          <a:p>
            <a:r>
              <a:rPr lang="en-US" dirty="0"/>
              <a:t>Transaction costs and leverage are rarely considered</a:t>
            </a:r>
          </a:p>
          <a:p>
            <a:r>
              <a:rPr lang="en-US" dirty="0"/>
              <a:t>Performance is typically reported in USD rather than </a:t>
            </a:r>
            <a:r>
              <a:rPr lang="en-US" b="1" dirty="0"/>
              <a:t>relative to gold</a:t>
            </a:r>
            <a:endParaRPr lang="en-US" dirty="0"/>
          </a:p>
          <a:p>
            <a:r>
              <a:rPr lang="en-US" dirty="0"/>
              <a:t>This obscures real value creation and inflation-adjusted profitability</a:t>
            </a:r>
          </a:p>
        </p:txBody>
      </p:sp>
    </p:spTree>
    <p:extLst>
      <p:ext uri="{BB962C8B-B14F-4D97-AF65-F5344CB8AC3E}">
        <p14:creationId xmlns:p14="http://schemas.microsoft.com/office/powerpoint/2010/main" val="2930072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040A3-919F-E1DE-A379-B29233E4D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67D65B-940F-FD48-5170-C3D83AA349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13115"/>
            <a:ext cx="10946363" cy="357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Analyze historical market price data to understand price behavior</a:t>
            </a:r>
          </a:p>
          <a:p>
            <a:r>
              <a:rPr lang="en-US" dirty="0"/>
              <a:t>Develop a structured quantitative trading framework</a:t>
            </a:r>
          </a:p>
          <a:p>
            <a:r>
              <a:rPr lang="en-US" dirty="0"/>
              <a:t>Generate rule-based entry and exit signals</a:t>
            </a:r>
          </a:p>
          <a:p>
            <a:r>
              <a:rPr lang="en-US" dirty="0"/>
              <a:t>Perform rigorous historical and out-of-sample </a:t>
            </a:r>
            <a:r>
              <a:rPr lang="en-US" dirty="0" err="1"/>
              <a:t>backtesting</a:t>
            </a:r>
            <a:endParaRPr lang="en-US" dirty="0"/>
          </a:p>
          <a:p>
            <a:r>
              <a:rPr lang="en-US" dirty="0"/>
              <a:t>Evaluate performance using objective and risk-adjusted metrics</a:t>
            </a:r>
          </a:p>
          <a:p>
            <a:r>
              <a:rPr lang="en-US" dirty="0"/>
              <a:t>Benchmark returns </a:t>
            </a:r>
            <a:r>
              <a:rPr lang="en-US" b="1" dirty="0"/>
              <a:t>relative to gold</a:t>
            </a:r>
            <a:r>
              <a:rPr lang="en-US" dirty="0"/>
              <a:t> instead of USD</a:t>
            </a:r>
          </a:p>
          <a:p>
            <a:r>
              <a:rPr lang="en-US" dirty="0"/>
              <a:t>Assess robustness and feasibility of fully systematic trading</a:t>
            </a:r>
          </a:p>
        </p:txBody>
      </p:sp>
    </p:spTree>
    <p:extLst>
      <p:ext uri="{BB962C8B-B14F-4D97-AF65-F5344CB8AC3E}">
        <p14:creationId xmlns:p14="http://schemas.microsoft.com/office/powerpoint/2010/main" val="21551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D367F-68A3-A5EE-705E-799E34C7C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FC465-9045-EE62-0025-648164697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system uses historical price data as the primary input</a:t>
            </a:r>
          </a:p>
          <a:p>
            <a:r>
              <a:rPr lang="en-US" dirty="0"/>
              <a:t>Market behavior is captured through patterns and indicators derived from raw prices</a:t>
            </a:r>
          </a:p>
          <a:p>
            <a:r>
              <a:rPr lang="en-US" dirty="0"/>
              <a:t>Quantitative models generate rule-based entry and exit signals</a:t>
            </a:r>
          </a:p>
          <a:p>
            <a:r>
              <a:rPr lang="en-US" dirty="0"/>
              <a:t>Signals are evaluated through historical and out-of-sample testing</a:t>
            </a:r>
          </a:p>
          <a:p>
            <a:r>
              <a:rPr lang="en-US" dirty="0"/>
              <a:t>Strategy effectiveness is measured using objective performance metrics</a:t>
            </a:r>
          </a:p>
          <a:p>
            <a:r>
              <a:rPr lang="en-US" b="1" dirty="0"/>
              <a:t>Performance is benchmarked relative to gold</a:t>
            </a:r>
            <a:r>
              <a:rPr lang="en-US" dirty="0"/>
              <a:t>, treating gold as the base asset rather than fiat currency</a:t>
            </a:r>
          </a:p>
        </p:txBody>
      </p:sp>
    </p:spTree>
    <p:extLst>
      <p:ext uri="{BB962C8B-B14F-4D97-AF65-F5344CB8AC3E}">
        <p14:creationId xmlns:p14="http://schemas.microsoft.com/office/powerpoint/2010/main" val="3230874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77279-96B9-94F8-3419-B701B07C2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346A75-B54B-97C7-A2BD-25721A3DE071}"/>
              </a:ext>
            </a:extLst>
          </p:cNvPr>
          <p:cNvSpPr/>
          <p:nvPr/>
        </p:nvSpPr>
        <p:spPr>
          <a:xfrm>
            <a:off x="2066544" y="2112472"/>
            <a:ext cx="1527048" cy="1305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Historical Data (CSV/API)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396CFF5-D093-CE6A-12A7-60D5E12928B4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593592" y="2765252"/>
            <a:ext cx="120700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B4BA6A6-E952-98C0-D8F4-B2B927EE22A8}"/>
              </a:ext>
            </a:extLst>
          </p:cNvPr>
          <p:cNvSpPr/>
          <p:nvPr/>
        </p:nvSpPr>
        <p:spPr>
          <a:xfrm>
            <a:off x="4777740" y="4335684"/>
            <a:ext cx="1527048" cy="13055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Binance</a:t>
            </a:r>
            <a:r>
              <a:rPr lang="en-IN" dirty="0"/>
              <a:t> API Execution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250718-BC7C-B274-B109-45FA46695582}"/>
              </a:ext>
            </a:extLst>
          </p:cNvPr>
          <p:cNvSpPr/>
          <p:nvPr/>
        </p:nvSpPr>
        <p:spPr>
          <a:xfrm>
            <a:off x="7516368" y="4389835"/>
            <a:ext cx="1527048" cy="13055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Decision Logic (Trade signals)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02EAA6-1B2A-2892-4444-EB861509EDCF}"/>
              </a:ext>
            </a:extLst>
          </p:cNvPr>
          <p:cNvSpPr/>
          <p:nvPr/>
        </p:nvSpPr>
        <p:spPr>
          <a:xfrm>
            <a:off x="7516368" y="2112472"/>
            <a:ext cx="1527048" cy="1305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Prediction Model (</a:t>
            </a:r>
            <a:r>
              <a:rPr lang="en-IN" dirty="0" err="1"/>
              <a:t>PyTorch</a:t>
            </a:r>
            <a:r>
              <a:rPr lang="en-IN" dirty="0"/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0F5134-BB65-31A4-F929-1490D035FD9A}"/>
              </a:ext>
            </a:extLst>
          </p:cNvPr>
          <p:cNvSpPr/>
          <p:nvPr/>
        </p:nvSpPr>
        <p:spPr>
          <a:xfrm>
            <a:off x="4782312" y="2112473"/>
            <a:ext cx="1527048" cy="1305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Feature Engineering (Pandas/</a:t>
            </a:r>
            <a:r>
              <a:rPr lang="en-IN" dirty="0" err="1"/>
              <a:t>Numpy</a:t>
            </a:r>
            <a:r>
              <a:rPr lang="en-IN" dirty="0"/>
              <a:t>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CDB376A-0032-3A10-8417-4B2101D801D0}"/>
              </a:ext>
            </a:extLst>
          </p:cNvPr>
          <p:cNvCxnSpPr>
            <a:cxnSpLocks/>
          </p:cNvCxnSpPr>
          <p:nvPr/>
        </p:nvCxnSpPr>
        <p:spPr>
          <a:xfrm flipV="1">
            <a:off x="6309360" y="2758141"/>
            <a:ext cx="1207008" cy="6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2E4CEA-09F2-0CA3-F329-6A8474CD49B3}"/>
              </a:ext>
            </a:extLst>
          </p:cNvPr>
          <p:cNvCxnSpPr>
            <a:cxnSpLocks/>
          </p:cNvCxnSpPr>
          <p:nvPr/>
        </p:nvCxnSpPr>
        <p:spPr>
          <a:xfrm flipH="1">
            <a:off x="6307074" y="4988461"/>
            <a:ext cx="12115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D3F324-4A40-4970-7F17-6F0EF3B4CFC4}"/>
              </a:ext>
            </a:extLst>
          </p:cNvPr>
          <p:cNvCxnSpPr>
            <a:cxnSpLocks/>
          </p:cNvCxnSpPr>
          <p:nvPr/>
        </p:nvCxnSpPr>
        <p:spPr>
          <a:xfrm>
            <a:off x="8247888" y="3233629"/>
            <a:ext cx="0" cy="1156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BB2B2F-BBD4-CA4D-A0A4-FD32412C9FBB}"/>
              </a:ext>
            </a:extLst>
          </p:cNvPr>
          <p:cNvCxnSpPr>
            <a:cxnSpLocks/>
            <a:stCxn id="6" idx="1"/>
            <a:endCxn id="14" idx="3"/>
          </p:cNvCxnSpPr>
          <p:nvPr/>
        </p:nvCxnSpPr>
        <p:spPr>
          <a:xfrm flipH="1" flipV="1">
            <a:off x="3653028" y="4988461"/>
            <a:ext cx="112471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C9D7394-3666-8AB5-C5B0-ED692199D5EE}"/>
              </a:ext>
            </a:extLst>
          </p:cNvPr>
          <p:cNvSpPr/>
          <p:nvPr/>
        </p:nvSpPr>
        <p:spPr>
          <a:xfrm>
            <a:off x="2125980" y="4371902"/>
            <a:ext cx="1527048" cy="1233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Backtesting</a:t>
            </a:r>
            <a:r>
              <a:rPr lang="en-IN" dirty="0"/>
              <a:t> &amp; Performance</a:t>
            </a:r>
          </a:p>
        </p:txBody>
      </p:sp>
    </p:spTree>
    <p:extLst>
      <p:ext uri="{BB962C8B-B14F-4D97-AF65-F5344CB8AC3E}">
        <p14:creationId xmlns:p14="http://schemas.microsoft.com/office/powerpoint/2010/main" val="2544404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41DA4-4A3E-B816-9EF5-00B5663B9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732BE-9C93-7E26-E620-42ADDF7E6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Loader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Models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Backtesting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output</a:t>
            </a:r>
          </a:p>
        </p:txBody>
      </p:sp>
    </p:spTree>
    <p:extLst>
      <p:ext uri="{BB962C8B-B14F-4D97-AF65-F5344CB8AC3E}">
        <p14:creationId xmlns:p14="http://schemas.microsoft.com/office/powerpoint/2010/main" val="2616342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7B166-AC4D-37D7-6211-A69828FA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— Data Loader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77FE9-5B45-63F9-61FE-62F780481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39367"/>
          </a:xfrm>
        </p:spPr>
        <p:txBody>
          <a:bodyPr/>
          <a:lstStyle/>
          <a:p>
            <a:pPr>
              <a:buSzPct val="800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time-series OHLC CSV (BTC data).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800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data and timestamp alignment.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800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Normalize/scale features for models.</a:t>
            </a:r>
          </a:p>
          <a:p>
            <a:pPr>
              <a:buSzPct val="80000"/>
            </a:pP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A9B86E-E9BB-7371-A8B2-69FB6C603C2D}"/>
              </a:ext>
            </a:extLst>
          </p:cNvPr>
          <p:cNvSpPr txBox="1">
            <a:spLocks/>
          </p:cNvSpPr>
          <p:nvPr/>
        </p:nvSpPr>
        <p:spPr>
          <a:xfrm>
            <a:off x="838200" y="350589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— Feature Engineering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FC8FCC-D6DD-908B-B0B9-612A2CE4CE50}"/>
              </a:ext>
            </a:extLst>
          </p:cNvPr>
          <p:cNvSpPr txBox="1">
            <a:spLocks/>
          </p:cNvSpPr>
          <p:nvPr/>
        </p:nvSpPr>
        <p:spPr>
          <a:xfrm>
            <a:off x="838200" y="4831461"/>
            <a:ext cx="10515600" cy="1539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Char char="•"/>
            </a:pPr>
            <a:r>
              <a:rPr lang="en-IN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technical indicators: SMA, EMA, RSI (optional).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 into model input vectors.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model capture trends before prediction.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98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36E0-F408-85DC-A70F-6D7EC0FFB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365125"/>
            <a:ext cx="10521696" cy="129908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— Prediction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9D20B-0AAD-3D71-4ED1-2E961FB54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66031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different models such as linear, non-linear, and neural network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Model: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Assumes a direct linear relationship between historical price features and the output.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Uses past price values and derived indicators as input features.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Learns fixed weights to generate price movement or trading signals.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Acts as a baseline model for comparison with complex approaches.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749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CF421-DCAE-B9B4-5A7F-71E675BBF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60"/>
            <a:ext cx="10515600" cy="581120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 Model: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non-linear relationships between input features and predictions.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non-linear transformations to capture complex market behavior.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interactions between price features that linear models cannot.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improved flexibility while remaining relatively lightweight.</a:t>
            </a: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Composed of multiple layers of interconnected neurons.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complex and hierarchical patterns form historical market data.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highly non-linear and dynamic price movements.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the highest modeling capacity among the three approaches.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compare all three of them using equity curve comparison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0531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76C5-D0EB-1541-4322-94D921EBE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8773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—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Backtesting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AC0E0-C885-0C76-3DF5-0AD592759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74336"/>
            <a:ext cx="10515600" cy="212140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research,py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simulate strategies.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buy/sell decisions against historical prices.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Return %, Sharpe ratio (optional), drawdowns.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0091D6-A233-BF13-4A9A-9B54CFF0C725}"/>
              </a:ext>
            </a:extLst>
          </p:cNvPr>
          <p:cNvSpPr txBox="1">
            <a:spLocks/>
          </p:cNvSpPr>
          <p:nvPr/>
        </p:nvSpPr>
        <p:spPr>
          <a:xfrm>
            <a:off x="838200" y="1175766"/>
            <a:ext cx="10515600" cy="26530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Binance.py to connect to API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or paper trading.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market/limit orders.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client.order_market_buy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(symbol="BTCUSDT", quantity=0.001)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183295F-3701-9266-BF29-C18DD1012A1C}"/>
              </a:ext>
            </a:extLst>
          </p:cNvPr>
          <p:cNvSpPr txBox="1">
            <a:spLocks/>
          </p:cNvSpPr>
          <p:nvPr/>
        </p:nvSpPr>
        <p:spPr>
          <a:xfrm>
            <a:off x="832104" y="0"/>
            <a:ext cx="10521696" cy="1299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— Trade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Exexution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147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A33E78-3C32-4237-4B31-658D5DC02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816095" cy="1938076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Results</a:t>
            </a:r>
          </a:p>
        </p:txBody>
      </p:sp>
      <p:sp>
        <p:nvSpPr>
          <p:cNvPr id="23" name="Content Placeholder 8">
            <a:extLst>
              <a:ext uri="{FF2B5EF4-FFF2-40B4-BE49-F238E27FC236}">
                <a16:creationId xmlns:a16="http://schemas.microsoft.com/office/drawing/2014/main" id="{A34006DE-16AC-44DE-3104-ECCE98254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2482589"/>
            <a:ext cx="5301343" cy="3694373"/>
          </a:xfrm>
        </p:spPr>
        <p:txBody>
          <a:bodyPr>
            <a:normAutofit/>
          </a:bodyPr>
          <a:lstStyle/>
          <a:p>
            <a:r>
              <a:rPr lang="en-US" sz="2000" dirty="0"/>
              <a:t>Simple Linear: 8.78%</a:t>
            </a:r>
          </a:p>
          <a:p>
            <a:r>
              <a:rPr lang="en-US" sz="2000" dirty="0"/>
              <a:t>AR(3) Linear: 14.52%</a:t>
            </a:r>
          </a:p>
          <a:p>
            <a:r>
              <a:rPr lang="en-US" sz="2000" dirty="0"/>
              <a:t>Neural Network: -24.98</a:t>
            </a:r>
          </a:p>
          <a:p>
            <a:r>
              <a:rPr lang="en-US" sz="2000" dirty="0"/>
              <a:t>Deep RL Policy: Return=2.71%</a:t>
            </a:r>
          </a:p>
          <a:p>
            <a:r>
              <a:rPr lang="en-US" sz="2000" dirty="0"/>
              <a:t>Transformer: Return= - 4.42%</a:t>
            </a:r>
          </a:p>
          <a:p>
            <a:r>
              <a:rPr lang="en-US" sz="2000" dirty="0"/>
              <a:t>Copula Mispricing: Return=7.03%</a:t>
            </a:r>
          </a:p>
          <a:p>
            <a:r>
              <a:rPr lang="en-US" sz="2000" dirty="0"/>
              <a:t>GARCH Volatility Regime: Return=2.51%</a:t>
            </a:r>
          </a:p>
          <a:p>
            <a:r>
              <a:rPr lang="en-US" sz="2000" dirty="0"/>
              <a:t>LSTM Neural Network: Return=2.72%</a:t>
            </a:r>
          </a:p>
          <a:p>
            <a:r>
              <a:rPr lang="en-US" sz="2000" dirty="0"/>
              <a:t>OU Mean Reversion: Return= -15.3%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C66101-9B13-3D72-3D63-DE4893CE8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912" y="0"/>
            <a:ext cx="7395796" cy="31677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2580D4-7073-ED1A-8B3E-B73AD4E7A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912" y="3200400"/>
            <a:ext cx="7395795" cy="359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629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ED0B8-6501-24CE-EDA1-CF8F5B3A5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B4C1C-05A0-ECCF-C33B-8F04B2001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Designed a quantitative decision-making framework to generate entry and exit trading signals using historical market data.</a:t>
            </a:r>
          </a:p>
          <a:p>
            <a:r>
              <a:rPr lang="en-US" dirty="0"/>
              <a:t>Implemented a fully automated </a:t>
            </a:r>
            <a:r>
              <a:rPr lang="en-US" b="1" dirty="0"/>
              <a:t>data → model → trade</a:t>
            </a:r>
            <a:r>
              <a:rPr lang="en-US" dirty="0"/>
              <a:t> pipeline.</a:t>
            </a:r>
          </a:p>
          <a:p>
            <a:r>
              <a:rPr lang="en-US" dirty="0"/>
              <a:t>Evaluated signal effectiveness using systematic </a:t>
            </a:r>
            <a:r>
              <a:rPr lang="en-US" dirty="0" err="1"/>
              <a:t>backtesting</a:t>
            </a:r>
            <a:r>
              <a:rPr lang="en-US" dirty="0"/>
              <a:t> and risk-adjusted performance metrics.</a:t>
            </a:r>
          </a:p>
          <a:p>
            <a:r>
              <a:rPr lang="en-US" dirty="0"/>
              <a:t>Analyzed strategy performance </a:t>
            </a:r>
            <a:r>
              <a:rPr lang="en-US" b="1" dirty="0"/>
              <a:t>against Gold</a:t>
            </a:r>
            <a:r>
              <a:rPr lang="en-US" dirty="0"/>
              <a:t>, using comparative plots to account for macro effects and avoid misleading USD-denominated returns.</a:t>
            </a:r>
          </a:p>
          <a:p>
            <a:r>
              <a:rPr lang="en-US" dirty="0"/>
              <a:t>Demonstrated that data-driven trading decisions are more consistent and objective than manual approaches.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8271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F983-4457-8E7E-685F-9CE08F8C9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64219-2C26-3789-D057-F6F200821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</a:t>
            </a:r>
            <a:r>
              <a:rPr lang="en-IN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Mnih</a:t>
            </a:r>
            <a:r>
              <a:rPr lang="en-IN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V., et al., “Human-level control through deep reinforcement learning,” Nature, vol. 518, no. 7540, pp. 529–533, 2015.</a:t>
            </a:r>
            <a:endParaRPr lang="en-IN" sz="1800" i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Moody, J., &amp; </a:t>
            </a:r>
            <a:r>
              <a:rPr lang="en-IN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Saffell</a:t>
            </a:r>
            <a:r>
              <a:rPr lang="en-IN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M., “Learning to trade via direct reinforcement,” IEEE Transactions on Neural Networks, vol. 12, no. 4, pp. 875–889, 2001.</a:t>
            </a:r>
            <a:endParaRPr lang="en-IN" sz="1800" i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[3] Deng, Y., Bao, F., Kong, Y., Ren, Z., &amp; Dai, Q., “Deep direct reinforcement learning for financial signal representation and trading,” IEEE Transactions on Neural Networks and Learning Systems, vol. 28, no. 3, pp. 653–664, 2017.</a:t>
            </a:r>
            <a:endParaRPr lang="en-IN" sz="1800" i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[4] Salih, A., et al., “A survey on artificial intelligence, machine learning, and deep learning for cybersecurity,” Proceedings of the IEEE International Engineering Conference, pp. 61–66, 2021.</a:t>
            </a:r>
            <a:endParaRPr lang="en-IN" sz="1800" i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[5] Silver, D., et al., “Mastering the game of Go with deep neural networks and tree search,” Nature, vol. 529, pp. 484–489, 2016.</a:t>
            </a:r>
            <a:endParaRPr lang="en-IN" sz="1800" i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[6] </a:t>
            </a:r>
            <a:r>
              <a:rPr lang="en-IN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OpenAI</a:t>
            </a:r>
            <a:r>
              <a:rPr lang="en-IN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“Proximal policy optimization algorithms,” </a:t>
            </a:r>
            <a:r>
              <a:rPr lang="en-IN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arXiv</a:t>
            </a:r>
            <a:r>
              <a:rPr lang="en-IN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preprint arXiv:1707.06347, 2017.</a:t>
            </a:r>
            <a:endParaRPr lang="en-IN" sz="1800" i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91979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6B4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E1B9D9-9555-E3DC-0756-0CF82A917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Treasury rates vs Gold</a:t>
            </a:r>
          </a:p>
        </p:txBody>
      </p:sp>
      <p:pic>
        <p:nvPicPr>
          <p:cNvPr id="4" name="Content Placeholder 3" descr="A graph of different types of graphs&#10;&#10;AI-generated content may be incorrect.">
            <a:extLst>
              <a:ext uri="{FF2B5EF4-FFF2-40B4-BE49-F238E27FC236}">
                <a16:creationId xmlns:a16="http://schemas.microsoft.com/office/drawing/2014/main" id="{83197EED-0D79-1450-F82C-240C97F54E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4942" y="640080"/>
            <a:ext cx="6973519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616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1042</Words>
  <Application>Microsoft Macintosh PowerPoint</Application>
  <PresentationFormat>Widescreen</PresentationFormat>
  <Paragraphs>118</Paragraphs>
  <Slides>17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Integrated Algorithmic Trading Framework Using Backtrader and Binance</vt:lpstr>
      <vt:lpstr>Introduction</vt:lpstr>
      <vt:lpstr>Problem Statement</vt:lpstr>
      <vt:lpstr>RESARCH GAP</vt:lpstr>
      <vt:lpstr>Research Objectives</vt:lpstr>
      <vt:lpstr>Proposed System Overview</vt:lpstr>
      <vt:lpstr>System Diagram</vt:lpstr>
      <vt:lpstr>Modules List</vt:lpstr>
      <vt:lpstr>Module — Data Loader</vt:lpstr>
      <vt:lpstr>Module — Prediction Model</vt:lpstr>
      <vt:lpstr>PowerPoint Presentation</vt:lpstr>
      <vt:lpstr>Module — Backtesting &amp; Research</vt:lpstr>
      <vt:lpstr>Implementation Results</vt:lpstr>
      <vt:lpstr>Summary &amp; Next Steps</vt:lpstr>
      <vt:lpstr>REFERENCES</vt:lpstr>
      <vt:lpstr>Treasury rates vs Gold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Algorithmic Trading Framework Using Backtrader and Binance</dc:title>
  <dc:creator>Dharsha dwarak</dc:creator>
  <cp:lastModifiedBy>Rahul Rg</cp:lastModifiedBy>
  <cp:revision>5</cp:revision>
  <dcterms:created xsi:type="dcterms:W3CDTF">2026-01-31T17:29:29Z</dcterms:created>
  <dcterms:modified xsi:type="dcterms:W3CDTF">2026-02-01T22:23:25Z</dcterms:modified>
</cp:coreProperties>
</file>